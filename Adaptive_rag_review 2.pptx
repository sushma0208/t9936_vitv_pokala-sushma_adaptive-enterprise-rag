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wdp" ContentType="image/vnd.ms-photo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c640a6d221d46b8" /><Relationship Type="http://schemas.openxmlformats.org/package/2006/relationships/metadata/core-properties" Target="/docProps/core.xml" Id="Re69536e49b1445f0" /><Relationship Type="http://schemas.openxmlformats.org/officeDocument/2006/relationships/extended-properties" Target="/docProps/app.xml" Id="R131e0561a9b649ed" /><Relationship Type="http://schemas.openxmlformats.org/officeDocument/2006/relationships/custom-properties" Target="/docProps/custom.xml" Id="R68b86172a12a4003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6ccf34f2f5cb45ad"/>
  </p:sldMasterIdLst>
  <p:sldIdLst>
    <p:sldId id="256" r:id="R1f766cec3441464c"/>
    <p:sldId id="257" r:id="R75e7a53959674cad"/>
    <p:sldId id="258" r:id="R64c5a679d9a74ef0"/>
    <p:sldId id="259" r:id="R6e021dda2e2a43b0"/>
    <p:sldId id="260" r:id="R3235eb9db8d54c44"/>
    <p:sldId id="261" r:id="R31d81994d7164eb7"/>
    <p:sldId id="262" r:id="R607b72f05c8e4b2e"/>
    <p:sldId id="263" r:id="Rffab1aac43364e26"/>
    <p:sldId id="264" r:id="R9782e78c12924ba2"/>
    <p:sldId id="265" r:id="R7bd27fda744841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802" autoAdjust="0"/>
  </p:normalViewPr>
  <p:slideViewPr>
    <p:cSldViewPr snapToGrid="0">
      <p:cViewPr varScale="1">
        <p:scale>
          <a:sx n="69" d="100"/>
          <a:sy n="69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6da9456028734236" /><Relationship Type="http://schemas.openxmlformats.org/officeDocument/2006/relationships/viewProps" Target="/ppt/viewProps.xml" Id="Rbf8fcc190fab43c0" /><Relationship Type="http://schemas.openxmlformats.org/officeDocument/2006/relationships/slideMaster" Target="/ppt/slideMasters/slideMaster1.xml" Id="R6ccf34f2f5cb45ad" /><Relationship Type="http://schemas.openxmlformats.org/officeDocument/2006/relationships/theme" Target="/ppt/slideMasters/theme/theme1.xml" Id="R0738bd7088bb4008" /><Relationship Type="http://schemas.openxmlformats.org/officeDocument/2006/relationships/slide" Target="/ppt/slides/slide1.xml" Id="R1f766cec3441464c" /><Relationship Type="http://schemas.openxmlformats.org/officeDocument/2006/relationships/slide" Target="/ppt/slides/slide2.xml" Id="R75e7a53959674cad" /><Relationship Type="http://schemas.openxmlformats.org/officeDocument/2006/relationships/slide" Target="/ppt/slides/slide3.xml" Id="R64c5a679d9a74ef0" /><Relationship Type="http://schemas.openxmlformats.org/officeDocument/2006/relationships/slide" Target="/ppt/slides/slide4.xml" Id="R6e021dda2e2a43b0" /><Relationship Type="http://schemas.openxmlformats.org/officeDocument/2006/relationships/slide" Target="/ppt/slides/slide5.xml" Id="R3235eb9db8d54c44" /><Relationship Type="http://schemas.openxmlformats.org/officeDocument/2006/relationships/slide" Target="/ppt/slides/slide6.xml" Id="R31d81994d7164eb7" /><Relationship Type="http://schemas.openxmlformats.org/officeDocument/2006/relationships/slide" Target="/ppt/slides/slide7.xml" Id="R607b72f05c8e4b2e" /><Relationship Type="http://schemas.openxmlformats.org/officeDocument/2006/relationships/slide" Target="/ppt/slides/slide8.xml" Id="Rffab1aac43364e26" /><Relationship Type="http://schemas.openxmlformats.org/officeDocument/2006/relationships/slide" Target="/ppt/slides/slide9.xml" Id="R9782e78c12924ba2" /><Relationship Type="http://schemas.openxmlformats.org/officeDocument/2006/relationships/slide" Target="/ppt/slides/slide10.xml" Id="R7bd27fda744841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abde771b748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7414ffa9e4c1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a5c9ac7a6a446f" /></Relationships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1cbc604ab3fc4be8" /><Relationship Type="http://schemas.openxmlformats.org/officeDocument/2006/relationships/image" Target="/ppt/media/image2.png" Id="Rd0871bb9e9a4441b" /><Relationship Type="http://schemas.openxmlformats.org/officeDocument/2006/relationships/image" Target="/ppt/media/image3.png" Id="Rf45124952d1448b0" /><Relationship Type="http://schemas.microsoft.com/office/2007/relationships/hdphoto" Target="/ppt/slideMasters/udata/data.wdp" Id="R04b2418ba6a2441d" /><Relationship Type="http://schemas.microsoft.com/office/2007/relationships/hdphoto" Target="/ppt/slideMasters/udata/data2.wdp" Id="Re3df282f4a6840c7" /><Relationship Type="http://schemas.openxmlformats.org/officeDocument/2006/relationships/theme" Target="/ppt/slideMasters/theme/theme1.xml" Id="R153de3805722440f" /><Relationship Type="http://schemas.openxmlformats.org/officeDocument/2006/relationships/slideLayout" Target="/ppt/slideLayouts/slideLayout4.xml" Id="R7e39b7e7c4e04cfa" /><Relationship Type="http://schemas.openxmlformats.org/officeDocument/2006/relationships/slideLayout" Target="/ppt/slideLayouts/slideLayout5.xml" Id="Ref9e99ac83bc4a4b" /><Relationship Type="http://schemas.openxmlformats.org/officeDocument/2006/relationships/slideLayout" Target="/ppt/slideLayouts/slideLayout12.xml" Id="R847cd34192ed4607" /></Relationships>
</file>

<file path=ppt/slideMasters/slideMaster1.xml><?xml version="1.0" encoding="utf-8"?>
<p:sldMaster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1cbc604ab3fc4be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d0871bb9e9a4441b">
            <a:extLst>
              <a:ext uri="{BEBA8EAE-BF5A-486C-A8C5-ECC9F3942E4B}">
                <a14:imgProps xmlns:a14="http://schemas.microsoft.com/office/drawing/2010/main">
                  <a14:imgLayer r:embed="R04b2418ba6a2441d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f45124952d1448b0">
            <a:extLst>
              <a:ext uri="{BEBA8EAE-BF5A-486C-A8C5-ECC9F3942E4B}">
                <a14:imgProps xmlns:a14="http://schemas.microsoft.com/office/drawing/2010/main">
                  <a14:imgLayer r:embed="Re3df282f4a6840c7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7e39b7e7c4e04cfa"/>
    <p:sldLayoutId id="2147483653" r:id="Ref9e99ac83bc4a4b"/>
    <p:sldLayoutId id="2147483660" r:id="R847cd34192ed460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4.png" Id="R90e9d42e9e7f4922" /><Relationship Type="http://schemas.openxmlformats.org/officeDocument/2006/relationships/image" Target="/ppt/media/image5.png" Id="Rc82057b887ea4d61" /><Relationship Type="http://schemas.openxmlformats.org/officeDocument/2006/relationships/slideLayout" Target="/ppt/slideLayouts/slideLayout5.xml" Id="Rb095d6084f7a4b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c162d1fac3c43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0ced221561f43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1fee9d25fd045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213239f40de4b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1183c0f27d34e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5a9418655da47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b418c8e1de54b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0d4e0df887649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32cab40c6574ab3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833042"/>
              </p:ext>
            </p:extLst>
          </p:nvPr>
        </p:nvGraphicFramePr>
        <p:xfrm>
          <a:off x="0" y="5225583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90e9d42e9e7f492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5918" y="1746075"/>
            <a:ext cx="1097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Adaptive Enterprise Knowledge Assistant</a:t>
            </a:r>
            <a:r>
              <a:rPr lang="en-GB"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 </a:t>
            </a:r>
            <a:r>
              <a:rPr lang="en-GB" sz="3600" b="1" dirty="0">
                <a:solidFill>
                  <a:schemeClr val="accent5">
                    <a:lumMod val="50000"/>
                  </a:schemeClr>
                </a:solidFill>
              </a:rPr>
              <a:t>using Hybrid RAG, Role-Aware Retrieval and Hallucination Detection</a:t>
            </a:r>
            <a:endParaRPr sz="3600" b="1" dirty="0">
              <a:solidFill>
                <a:schemeClr val="accent5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5504" y="1120307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Review 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824" y="3165074"/>
            <a:ext cx="10241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Team Member: </a:t>
            </a:r>
            <a:r>
              <a:rPr lang="en-GB" sz="24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Pokala </a:t>
            </a:r>
            <a:r>
              <a:rPr sz="24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Sushma</a:t>
            </a:r>
            <a:endParaRPr lang="en-GB" sz="2400" b="1" dirty="0">
              <a:solidFill>
                <a:schemeClr val="accent5">
                  <a:lumMod val="50000"/>
                </a:schemeClr>
              </a:solidFill>
              <a:latin typeface="Calibri"/>
            </a:endParaRPr>
          </a:p>
          <a:p>
            <a:pPr algn="ctr"/>
            <a:r>
              <a:rPr lang="en-IN" sz="24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T9936</a:t>
            </a:r>
            <a:r>
              <a:rPr sz="24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 </a:t>
            </a:r>
            <a:endParaRPr lang="en-GB" sz="2400" b="1" dirty="0">
              <a:solidFill>
                <a:schemeClr val="accent5">
                  <a:lumMod val="50000"/>
                </a:schemeClr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457120-4C23-B097-AD91-A6C60E652269}"/>
              </a:ext>
            </a:extLst>
          </p:cNvPr>
          <p:cNvPicPr>
            <a:picLocks noChangeAspect="1"/>
          </p:cNvPicPr>
          <p:nvPr/>
        </p:nvPicPr>
        <p:blipFill>
          <a:blip r:embed="Rc82057b887ea4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68203"/>
            <a:ext cx="24003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8663" y="545425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663" y="1592943"/>
            <a:ext cx="1060704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Problem</a:t>
            </a:r>
            <a:r>
              <a:rPr sz="2800" b="1" dirty="0">
                <a:latin typeface="Calibri"/>
              </a:rPr>
              <a:t>: </a:t>
            </a:r>
            <a:r>
              <a:rPr sz="2800" b="0" dirty="0">
                <a:latin typeface="Calibri"/>
              </a:rPr>
              <a:t>enterprise knowledge is distributed across policies and technical documents. Manual search is slow, while a normal LLM may hallucinate or expose information outside a user's role.</a:t>
            </a:r>
            <a:br>
              <a:rPr dirty="0"/>
            </a:br>
            <a:br>
              <a:rPr dirty="0"/>
            </a:br>
            <a:r>
              <a:rPr sz="2800" b="1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Solution</a:t>
            </a:r>
            <a:r>
              <a:rPr sz="2800" b="0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: </a:t>
            </a:r>
            <a:r>
              <a:rPr sz="2800" b="0" dirty="0">
                <a:latin typeface="Calibri"/>
              </a:rPr>
              <a:t>an evidence-grounded enterprise assistant using Hybrid RAG, role-aware retrieval and post-generation evidence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472291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04257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• Improve retrieval coverage using BM25 + semantic vector search.</a:t>
            </a:r>
            <a:br>
              <a:rPr dirty="0"/>
            </a:br>
            <a:r>
              <a:rPr sz="2800" b="0" dirty="0">
                <a:latin typeface="Calibri"/>
              </a:rPr>
              <a:t>• Respect user-role access before sending context to the LLM.</a:t>
            </a:r>
            <a:br>
              <a:rPr dirty="0"/>
            </a:br>
            <a:r>
              <a:rPr sz="2800" b="0" dirty="0">
                <a:latin typeface="Calibri"/>
              </a:rPr>
              <a:t>• Generate answers grounded only in retrieved evidence.</a:t>
            </a:r>
            <a:br>
              <a:rPr dirty="0"/>
            </a:br>
            <a:r>
              <a:rPr sz="2800" b="0" dirty="0">
                <a:latin typeface="Calibri"/>
              </a:rPr>
              <a:t>• Detect unsupported claims and return an insufficient-evidence response.</a:t>
            </a:r>
            <a:br>
              <a:rPr dirty="0"/>
            </a:br>
            <a:r>
              <a:rPr sz="2800" b="0" dirty="0">
                <a:latin typeface="Calibri"/>
              </a:rPr>
              <a:t>• Deliver the system through </a:t>
            </a:r>
            <a:r>
              <a:rPr sz="2800" b="0" dirty="0" err="1">
                <a:latin typeface="Calibri"/>
              </a:rPr>
              <a:t>FastAPI</a:t>
            </a:r>
            <a:r>
              <a:rPr sz="2800" b="0" dirty="0">
                <a:latin typeface="Calibri"/>
              </a:rPr>
              <a:t> and </a:t>
            </a:r>
            <a:r>
              <a:rPr sz="2800" b="0" dirty="0" err="1">
                <a:latin typeface="Calibri"/>
              </a:rPr>
              <a:t>Streamlit</a:t>
            </a:r>
            <a:r>
              <a:rPr sz="2800" b="0" dirty="0">
                <a:latin typeface="Calibri"/>
              </a:rPr>
              <a:t>.</a:t>
            </a:r>
            <a:br>
              <a:rPr dirty="0"/>
            </a:br>
            <a:r>
              <a:rPr sz="2800" b="0" dirty="0">
                <a:latin typeface="Calibri"/>
              </a:rPr>
              <a:t>• Package the application with Docker.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21047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Project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89743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1. Document ingestion and metadata extraction</a:t>
            </a:r>
            <a:br>
              <a:rPr dirty="0"/>
            </a:br>
            <a:r>
              <a:rPr sz="2800" b="0" dirty="0">
                <a:latin typeface="Calibri"/>
              </a:rPr>
              <a:t>2. Chunking and preprocessing</a:t>
            </a:r>
            <a:br>
              <a:rPr dirty="0"/>
            </a:br>
            <a:r>
              <a:rPr sz="2800" b="0" dirty="0">
                <a:latin typeface="Calibri"/>
              </a:rPr>
              <a:t>3. BM25 keyword retrieval</a:t>
            </a:r>
            <a:br>
              <a:rPr dirty="0"/>
            </a:br>
            <a:r>
              <a:rPr sz="2800" b="0" dirty="0">
                <a:latin typeface="Calibri"/>
              </a:rPr>
              <a:t>4. FAISS vector retrieval with Nomic embeddings</a:t>
            </a:r>
            <a:br>
              <a:rPr dirty="0"/>
            </a:br>
            <a:r>
              <a:rPr sz="2800" b="0" dirty="0">
                <a:latin typeface="Calibri"/>
              </a:rPr>
              <a:t>5. Hybrid score fusion</a:t>
            </a:r>
            <a:br>
              <a:rPr dirty="0"/>
            </a:br>
            <a:r>
              <a:rPr sz="2800" b="0" dirty="0">
                <a:latin typeface="Calibri"/>
              </a:rPr>
              <a:t>6. Role filtering and reranking</a:t>
            </a:r>
            <a:br>
              <a:rPr dirty="0"/>
            </a:br>
            <a:r>
              <a:rPr sz="2800" b="0" dirty="0">
                <a:latin typeface="Calibri"/>
              </a:rPr>
              <a:t>7. Llama 3.2 RAG generation</a:t>
            </a:r>
            <a:br>
              <a:rPr dirty="0"/>
            </a:br>
            <a:r>
              <a:rPr sz="2800" b="0" dirty="0">
                <a:latin typeface="Calibri"/>
              </a:rPr>
              <a:t>8. Evidence verification</a:t>
            </a:r>
            <a:br>
              <a:rPr dirty="0"/>
            </a:br>
            <a:r>
              <a:rPr sz="2800" b="0" dirty="0">
                <a:latin typeface="Calibri"/>
              </a:rPr>
              <a:t>9. </a:t>
            </a:r>
            <a:r>
              <a:rPr sz="2800" b="0" dirty="0" err="1">
                <a:latin typeface="Calibri"/>
              </a:rPr>
              <a:t>FastAPI</a:t>
            </a:r>
            <a:r>
              <a:rPr sz="2800" b="0" dirty="0">
                <a:latin typeface="Calibri"/>
              </a:rPr>
              <a:t> + </a:t>
            </a:r>
            <a:r>
              <a:rPr sz="2800" b="0" dirty="0" err="1">
                <a:latin typeface="Calibri"/>
              </a:rPr>
              <a:t>Streamlit</a:t>
            </a:r>
            <a:br>
              <a:rPr dirty="0"/>
            </a:br>
            <a:r>
              <a:rPr sz="2800" b="0" dirty="0">
                <a:latin typeface="Calibri"/>
              </a:rPr>
              <a:t>10. Evaluation and </a:t>
            </a:r>
            <a:r>
              <a:rPr sz="2800" b="0" dirty="0" err="1">
                <a:latin typeface="Calibri"/>
              </a:rPr>
              <a:t>Dockerization</a:t>
            </a:r>
            <a:endParaRPr sz="2800" b="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49666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Methodology / Modeling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60731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Documents → extraction → metadata → chunking → dual retrieval → hybrid fusion → role filtering → reranking → LLM generation → evidence verification → verified answer + sources.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472291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Data Preprocessing &amp; 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85109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14 files: 3 synthetic TXT + 11 public PDFs.</a:t>
            </a:r>
            <a:br>
              <a:rPr dirty="0"/>
            </a:br>
            <a:r>
              <a:rPr sz="2800" b="0" dirty="0">
                <a:latin typeface="Calibri"/>
              </a:rPr>
              <a:t>83 non-empty records/pages extracted.</a:t>
            </a:r>
            <a:br>
              <a:rPr dirty="0"/>
            </a:br>
            <a:r>
              <a:rPr sz="2800" b="0" dirty="0">
                <a:latin typeface="Calibri"/>
              </a:rPr>
              <a:t>404 chunks generated using 500-character chunks and 100-character overlap.</a:t>
            </a:r>
            <a:br>
              <a:rPr dirty="0"/>
            </a:br>
            <a:r>
              <a:rPr sz="2800" b="0" dirty="0">
                <a:latin typeface="Calibri"/>
              </a:rPr>
              <a:t>398 public chunks + 6 restricted chunks.</a:t>
            </a:r>
            <a:br>
              <a:rPr dirty="0"/>
            </a:br>
            <a:br>
              <a:rPr dirty="0"/>
            </a:br>
            <a:r>
              <a:rPr sz="2800" b="0" dirty="0">
                <a:latin typeface="Calibri"/>
              </a:rPr>
              <a:t>Each chunk retains source, organization, document type, page number, access type and allowed roles.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49666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Approach / Algorithms /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60731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Python 3.11 | </a:t>
            </a:r>
            <a:r>
              <a:rPr sz="2800" b="0" dirty="0" err="1">
                <a:latin typeface="Calibri"/>
              </a:rPr>
              <a:t>LangChain</a:t>
            </a:r>
            <a:r>
              <a:rPr sz="2800" b="0" dirty="0">
                <a:latin typeface="Calibri"/>
              </a:rPr>
              <a:t> | </a:t>
            </a:r>
            <a:r>
              <a:rPr sz="2800" b="0" dirty="0" err="1">
                <a:latin typeface="Calibri"/>
              </a:rPr>
              <a:t>Ollama</a:t>
            </a:r>
            <a:br>
              <a:rPr dirty="0"/>
            </a:br>
            <a:r>
              <a:rPr sz="2800" b="0" dirty="0">
                <a:latin typeface="Calibri"/>
              </a:rPr>
              <a:t>LLM: Llama 3.2:3b</a:t>
            </a:r>
            <a:br>
              <a:rPr dirty="0"/>
            </a:br>
            <a:r>
              <a:rPr sz="2800" b="0" dirty="0">
                <a:latin typeface="Calibri"/>
              </a:rPr>
              <a:t>Embedding: nomic-embed-text</a:t>
            </a:r>
            <a:br>
              <a:rPr dirty="0"/>
            </a:br>
            <a:r>
              <a:rPr sz="2800" b="0" dirty="0">
                <a:latin typeface="Calibri"/>
              </a:rPr>
              <a:t>Vector search: FAISS</a:t>
            </a:r>
            <a:br>
              <a:rPr dirty="0"/>
            </a:br>
            <a:r>
              <a:rPr sz="2800" b="0" dirty="0">
                <a:latin typeface="Calibri"/>
              </a:rPr>
              <a:t>Keyword retrieval: BM25</a:t>
            </a:r>
            <a:br>
              <a:rPr dirty="0"/>
            </a:br>
            <a:r>
              <a:rPr sz="2800" b="0" dirty="0">
                <a:latin typeface="Calibri"/>
              </a:rPr>
              <a:t>Reranking: custom score-based </a:t>
            </a:r>
            <a:r>
              <a:rPr sz="2800" b="0" dirty="0" err="1">
                <a:latin typeface="Calibri"/>
              </a:rPr>
              <a:t>reranker</a:t>
            </a:r>
            <a:br>
              <a:rPr dirty="0"/>
            </a:br>
            <a:r>
              <a:rPr sz="2800" b="0" dirty="0">
                <a:latin typeface="Calibri"/>
              </a:rPr>
              <a:t>Verification: custom Evidence Checker</a:t>
            </a:r>
            <a:br>
              <a:rPr dirty="0"/>
            </a:br>
            <a:r>
              <a:rPr sz="2800" b="0" dirty="0">
                <a:latin typeface="Calibri"/>
              </a:rPr>
              <a:t>Backend: </a:t>
            </a:r>
            <a:r>
              <a:rPr sz="2800" b="0" dirty="0" err="1">
                <a:latin typeface="Calibri"/>
              </a:rPr>
              <a:t>FastAPI</a:t>
            </a:r>
            <a:r>
              <a:rPr sz="2800" b="0" dirty="0">
                <a:latin typeface="Calibri"/>
              </a:rPr>
              <a:t> | Frontend: </a:t>
            </a:r>
            <a:r>
              <a:rPr sz="2800" b="0" dirty="0" err="1">
                <a:latin typeface="Calibri"/>
              </a:rPr>
              <a:t>Streamlit</a:t>
            </a:r>
            <a:br>
              <a:rPr dirty="0"/>
            </a:br>
            <a:r>
              <a:rPr sz="2800" b="0" dirty="0">
                <a:latin typeface="Calibri"/>
              </a:rPr>
              <a:t>Testing: </a:t>
            </a:r>
            <a:r>
              <a:rPr sz="2800" b="0" dirty="0" err="1">
                <a:latin typeface="Calibri"/>
              </a:rPr>
              <a:t>PyTest</a:t>
            </a:r>
            <a:r>
              <a:rPr sz="2800" b="0" dirty="0">
                <a:latin typeface="Calibri"/>
              </a:rPr>
              <a:t> | Container: Docker</a:t>
            </a: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49666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Project Plan / Milestones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49835"/>
            <a:ext cx="1078992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COMPLETED</a:t>
            </a:r>
            <a:r>
              <a:rPr lang="en-GB" sz="2800" b="0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                                                                     </a:t>
            </a:r>
            <a:br>
              <a:rPr dirty="0"/>
            </a:br>
            <a:r>
              <a:rPr sz="2800" b="0" dirty="0">
                <a:latin typeface="Calibri"/>
              </a:rPr>
              <a:t>✓ Ingestion &amp; preprocessing</a:t>
            </a:r>
            <a:br>
              <a:rPr dirty="0"/>
            </a:br>
            <a:r>
              <a:rPr sz="2800" b="0" dirty="0">
                <a:latin typeface="Calibri"/>
              </a:rPr>
              <a:t>✓ Hybrid retrieval</a:t>
            </a:r>
            <a:br>
              <a:rPr dirty="0"/>
            </a:br>
            <a:r>
              <a:rPr sz="2800" b="0" dirty="0">
                <a:latin typeface="Calibri"/>
              </a:rPr>
              <a:t>✓ Role-aware filtering</a:t>
            </a:r>
            <a:br>
              <a:rPr dirty="0"/>
            </a:br>
            <a:r>
              <a:rPr sz="2800" b="0" dirty="0">
                <a:latin typeface="Calibri"/>
              </a:rPr>
              <a:t>✓ Reranking</a:t>
            </a:r>
            <a:br>
              <a:rPr dirty="0"/>
            </a:br>
            <a:r>
              <a:rPr sz="2800" b="0" dirty="0">
                <a:latin typeface="Calibri"/>
              </a:rPr>
              <a:t>✓ RAG generation</a:t>
            </a:r>
            <a:br>
              <a:rPr dirty="0"/>
            </a:br>
            <a:r>
              <a:rPr sz="2800" b="0" dirty="0">
                <a:latin typeface="Calibri"/>
              </a:rPr>
              <a:t>✓ Evidence verification</a:t>
            </a:r>
            <a:br>
              <a:rPr dirty="0"/>
            </a:br>
            <a:r>
              <a:rPr sz="2800" b="0" dirty="0">
                <a:latin typeface="Calibri"/>
              </a:rPr>
              <a:t>✓ </a:t>
            </a:r>
            <a:r>
              <a:rPr sz="2800" b="0" dirty="0" err="1">
                <a:latin typeface="Calibri"/>
              </a:rPr>
              <a:t>FastAPI</a:t>
            </a:r>
            <a:br>
              <a:rPr dirty="0"/>
            </a:br>
            <a:r>
              <a:rPr sz="2800" b="0" dirty="0">
                <a:latin typeface="Calibri"/>
              </a:rPr>
              <a:t>✓ </a:t>
            </a:r>
            <a:r>
              <a:rPr sz="2800" b="0" dirty="0" err="1">
                <a:latin typeface="Calibri"/>
              </a:rPr>
              <a:t>Streamlit</a:t>
            </a:r>
            <a:r>
              <a:rPr sz="2800" b="0" dirty="0">
                <a:latin typeface="Calibri"/>
              </a:rPr>
              <a:t> dashboard</a:t>
            </a:r>
            <a:br>
              <a:rPr dirty="0"/>
            </a:br>
            <a:r>
              <a:rPr sz="2800" b="0" dirty="0">
                <a:latin typeface="Calibri"/>
              </a:rPr>
              <a:t>✓ Evaluation/testing</a:t>
            </a:r>
            <a:br>
              <a:rPr dirty="0"/>
            </a:br>
            <a:r>
              <a:rPr sz="2800" b="0" dirty="0">
                <a:latin typeface="Calibri"/>
              </a:rPr>
              <a:t>✓ </a:t>
            </a:r>
            <a:r>
              <a:rPr sz="2800" b="0" dirty="0" err="1">
                <a:latin typeface="Calibri"/>
              </a:rPr>
              <a:t>Dockerization</a:t>
            </a:r>
            <a:br>
              <a:rPr dirty="0"/>
            </a:br>
            <a:br>
              <a:rPr sz="1600" dirty="0"/>
            </a:br>
            <a:endParaRPr sz="2400" b="0" dirty="0">
              <a:latin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62403-BBB1-D7EB-F4E7-6E7C47173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3857" y="1398592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NEXT</a:t>
            </a:r>
            <a:br>
              <a:rPr lang="en-GB" sz="1800" dirty="0"/>
            </a:br>
            <a:r>
              <a:rPr lang="en-GB" dirty="0"/>
              <a:t>→ GitHub Actions CI/CD</a:t>
            </a:r>
            <a:br>
              <a:rPr lang="en-GB" sz="1800" dirty="0"/>
            </a:br>
            <a:r>
              <a:rPr lang="en-GB" dirty="0"/>
              <a:t>→ GHCR image publishing / deployment stage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9666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Current 8-question retrieval evaluation:</a:t>
            </a:r>
            <a:br>
              <a:rPr dirty="0"/>
            </a:br>
            <a:r>
              <a:rPr sz="2800" b="0" dirty="0">
                <a:latin typeface="Calibri"/>
              </a:rPr>
              <a:t>• BM25 Recall@3 = 75%</a:t>
            </a:r>
            <a:br>
              <a:rPr dirty="0"/>
            </a:br>
            <a:r>
              <a:rPr sz="2800" b="0" dirty="0">
                <a:latin typeface="Calibri"/>
              </a:rPr>
              <a:t>• Vector Retrieval Recall@3 = 100%</a:t>
            </a:r>
            <a:br>
              <a:rPr dirty="0"/>
            </a:br>
            <a:r>
              <a:rPr sz="2800" b="0" dirty="0">
                <a:latin typeface="Calibri"/>
              </a:rPr>
              <a:t>• Hybrid Retrieval Recall@3 = 100%</a:t>
            </a:r>
            <a:br>
              <a:rPr dirty="0"/>
            </a:br>
            <a:br>
              <a:rPr dirty="0"/>
            </a:br>
            <a:r>
              <a:rPr sz="2800" b="0" dirty="0">
                <a:latin typeface="Calibri"/>
              </a:rPr>
              <a:t>Evidence tests covered supported answers, unsupported numeric claims and insufficient-evidence cases.</a:t>
            </a:r>
            <a:br>
              <a:rPr dirty="0"/>
            </a:br>
            <a:r>
              <a:rPr sz="2800" b="0" dirty="0">
                <a:latin typeface="Calibri"/>
              </a:rPr>
              <a:t>Security tests confirmed unauthorized WFH access is blocked, authorized access works, and public documents remain accessible.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92611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Implementation &amp; Deployment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• </a:t>
            </a:r>
            <a:r>
              <a:rPr sz="2800" b="0" dirty="0" err="1">
                <a:latin typeface="Calibri"/>
              </a:rPr>
              <a:t>FastAPI</a:t>
            </a:r>
            <a:r>
              <a:rPr sz="2800" b="0" dirty="0">
                <a:latin typeface="Calibri"/>
              </a:rPr>
              <a:t> /health and /query are working.</a:t>
            </a:r>
            <a:br>
              <a:rPr dirty="0"/>
            </a:br>
            <a:r>
              <a:rPr sz="2800" b="0" dirty="0">
                <a:latin typeface="Calibri"/>
              </a:rPr>
              <a:t>• </a:t>
            </a:r>
            <a:r>
              <a:rPr sz="2800" b="0" dirty="0" err="1">
                <a:latin typeface="Calibri"/>
              </a:rPr>
              <a:t>Streamlit</a:t>
            </a:r>
            <a:r>
              <a:rPr sz="2800" b="0" dirty="0">
                <a:latin typeface="Calibri"/>
              </a:rPr>
              <a:t> dashboard is connected and displays answers, verification, confidence and sources.</a:t>
            </a:r>
            <a:br>
              <a:rPr dirty="0"/>
            </a:br>
            <a:r>
              <a:rPr sz="2800" b="0" dirty="0">
                <a:latin typeface="Calibri"/>
              </a:rPr>
              <a:t>• Docker image/container were successfully tested.</a:t>
            </a:r>
            <a:br>
              <a:rPr dirty="0"/>
            </a:br>
            <a:r>
              <a:rPr sz="2800" b="0" dirty="0">
                <a:latin typeface="Calibri"/>
              </a:rPr>
              <a:t>• 14 automated tests passed.</a:t>
            </a:r>
            <a:br>
              <a:rPr dirty="0"/>
            </a:br>
            <a:r>
              <a:rPr sz="2800" b="0" dirty="0">
                <a:latin typeface="Calibri"/>
              </a:rPr>
              <a:t>• CI/CD has not yet been implemented and is the next stage.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560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>HARI PRASATH</dc:creator>
  <lastModifiedBy>Pokala Sushma</lastModifiedBy>
  <revision>13</revision>
  <dcterms:created xsi:type="dcterms:W3CDTF">2024-05-13T10:33:11.0000000Z</dcterms:created>
  <dcterms:modified xsi:type="dcterms:W3CDTF">2026-10-06T03:24:46.7890000Z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/>
</file>