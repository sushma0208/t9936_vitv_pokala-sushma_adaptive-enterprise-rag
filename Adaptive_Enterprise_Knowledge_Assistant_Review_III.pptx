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411480" y="1783080"/>
            <a:ext cx="6995160" cy="3886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2600" b="1">
                <a:solidFill>
                  <a:srgbClr val="00697D"/>
                </a:solidFill>
                <a:latin typeface="Calibri"/>
              </a:defRPr>
            </a:pPr>
            <a:r>
              <a:t>REVIEW III</a:t>
            </a:r>
          </a:p>
          <a:p>
            <a:pPr>
              <a:spcAft>
                <a:spcPts val="1200"/>
              </a:spcAft>
              <a:defRPr sz="3600" b="1">
                <a:solidFill>
                  <a:srgbClr val="192B48"/>
                </a:solidFill>
                <a:latin typeface="Calibri"/>
              </a:defRPr>
            </a:pPr>
            <a:r>
              <a:t>Adaptive Enterprise</a:t>
            </a:r>
            <a:br/>
            <a:r>
              <a:t>Knowledge Assistant</a:t>
            </a:r>
          </a:p>
          <a:p>
            <a:pPr>
              <a:spcAft>
                <a:spcPts val="1500"/>
              </a:spcAft>
              <a:defRPr sz="1900" b="0">
                <a:solidFill>
                  <a:srgbClr val="414E63"/>
                </a:solidFill>
                <a:latin typeface="Calibri"/>
              </a:defRPr>
            </a:pPr>
            <a:r>
              <a:t>Hybrid RAG • Role-Aware Retrieval • Evidence-Based Hallucination Detection</a:t>
            </a:r>
          </a:p>
          <a:p>
            <a:pPr>
              <a:spcAft>
                <a:spcPts val="0"/>
              </a:spcAft>
              <a:defRPr sz="2100" b="0">
                <a:solidFill>
                  <a:srgbClr val="28374B"/>
                </a:solidFill>
                <a:latin typeface="Calibri"/>
              </a:defRPr>
            </a:pPr>
            <a:r>
              <a:t>Team Member: [Enter Name]  |  M.Tech AIML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635240" y="2148840"/>
            <a:ext cx="1417320" cy="960120"/>
          </a:xfrm>
          <a:prstGeom prst="round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0104" y="2221992"/>
            <a:ext cx="1307592" cy="80467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HYBRID</a:t>
            </a:r>
            <a:br/>
            <a:r>
              <a:t>RETRIEVAL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2148840"/>
            <a:ext cx="1417320" cy="960120"/>
          </a:xfrm>
          <a:prstGeom prst="roundRect">
            <a:avLst/>
          </a:prstGeom>
          <a:solidFill>
            <a:srgbClr val="805AD5"/>
          </a:solidFill>
          <a:ln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2221992"/>
            <a:ext cx="1307592" cy="80467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ROLE-AWARE</a:t>
            </a:r>
            <a:br/>
            <a:r>
              <a:t>FILTER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657600"/>
            <a:ext cx="1417320" cy="96012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0104" y="3730752"/>
            <a:ext cx="1307592" cy="80467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LOCAL</a:t>
            </a:r>
            <a:br/>
            <a:r>
              <a:t>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3657600"/>
            <a:ext cx="1417320" cy="960120"/>
          </a:xfrm>
          <a:prstGeom prst="roundRect">
            <a:avLst/>
          </a:prstGeom>
          <a:solidFill>
            <a:srgbClr val="E04F85"/>
          </a:solidFill>
          <a:ln>
            <a:solidFill>
              <a:srgbClr val="E04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36024" y="3730752"/>
            <a:ext cx="1307592" cy="80467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EVIDENCE</a:t>
            </a:r>
            <a:br/>
            <a:r>
              <a:t>CHECK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70848" y="2624328"/>
            <a:ext cx="164592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39327" y="3136392"/>
            <a:ext cx="0" cy="475488"/>
          </a:xfrm>
          <a:prstGeom prst="line">
            <a:avLst/>
          </a:prstGeom>
          <a:ln w="25400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0" y="3136392"/>
            <a:ext cx="0" cy="475488"/>
          </a:xfrm>
          <a:prstGeom prst="line">
            <a:avLst/>
          </a:prstGeom>
          <a:ln w="25400">
            <a:solidFill>
              <a:srgbClr val="E04F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543800" y="4892040"/>
            <a:ext cx="3291840" cy="38404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000" b="1">
                <a:solidFill>
                  <a:srgbClr val="18274B"/>
                </a:solidFill>
                <a:latin typeface="Calibri"/>
              </a:defRPr>
            </a:pPr>
            <a:r>
              <a:t>RETRIEVE  →  GENERATE  →  VERIFY</a:t>
            </a:r>
          </a:p>
        </p:txBody>
      </p:sp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53312"/>
            <a:ext cx="5669280" cy="4434840"/>
          </a:xfrm>
        </p:spPr>
        <p:txBody>
          <a:bodyPr wrap="square" lIns="73152" rIns="73152" tIns="36576" bIns="36576" anchor="t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300" b="0">
                <a:solidFill>
                  <a:srgbClr val="233046"/>
                </a:solidFill>
                <a:latin typeface="Calibri"/>
              </a:defRPr>
            </a:pPr>
            <a:r>
              <a:t>Enterprise policies are distributed across many files.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300" b="0">
                <a:solidFill>
                  <a:srgbClr val="233046"/>
                </a:solidFill>
                <a:latin typeface="Calibri"/>
              </a:defRPr>
            </a:pPr>
            <a:r>
              <a:t>Keyword-only search can miss semantically relevant passages.</a:t>
            </a:r>
          </a:p>
          <a:p>
            <a:pPr>
              <a:spcAft>
                <a:spcPts val="1000"/>
              </a:spcAft>
              <a:defRPr sz="2300" b="0">
                <a:solidFill>
                  <a:srgbClr val="233046"/>
                </a:solidFill>
                <a:latin typeface="Calibri"/>
              </a:defRPr>
            </a:pPr>
            <a:r>
              <a:t>LLM-only answers may sound confident without sufficient evidence.</a:t>
            </a:r>
          </a:p>
          <a:p>
            <a:pPr>
              <a:spcAft>
                <a:spcPts val="1000"/>
              </a:spcAft>
              <a:defRPr sz="2300" b="0">
                <a:solidFill>
                  <a:srgbClr val="233046"/>
                </a:solidFill>
                <a:latin typeface="Calibri"/>
              </a:defRPr>
            </a:pPr>
            <a:r>
              <a:t>This prototype combines hybrid retrieval, role-aware filtering and evidence checks.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92B48"/>
                </a:solidFill>
                <a:latin typeface="Calibri"/>
              </a:defRPr>
            </a:pPr>
            <a: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r">
              <a:defRPr sz="1800">
                <a:solidFill>
                  <a:srgbClr val="374255"/>
                </a:solidFill>
                <a:latin typeface="Calibri"/>
              </a:defRPr>
            </a:pPr>
            <a:r>
              <a:t>Adaptive Enterprise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212080" cy="4114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600" b="1">
                <a:solidFill>
                  <a:srgbClr val="18274B"/>
                </a:solidFill>
                <a:latin typeface="Calibri"/>
              </a:defRPr>
            </a:pPr>
            <a:r>
              <a:t>WHY HYBRID RAG?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1508760" cy="1600200"/>
          </a:xfrm>
          <a:prstGeom prst="roundRect">
            <a:avLst/>
          </a:prstGeom>
          <a:solidFill>
            <a:srgbClr val="EBF3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1508760" cy="384048"/>
          </a:xfrm>
          <a:prstGeom prst="round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29968"/>
            <a:ext cx="14173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KEYWORD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606040"/>
            <a:ext cx="1362456" cy="7315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263246"/>
                </a:solidFill>
                <a:latin typeface="Calibri"/>
              </a:defRPr>
            </a:pPr>
            <a:r>
              <a:t>Exact terms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27848" y="2788920"/>
            <a:ext cx="155448" cy="0"/>
          </a:xfrm>
          <a:prstGeom prst="line">
            <a:avLst/>
          </a:prstGeom>
          <a:ln w="2286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38160" y="2011680"/>
            <a:ext cx="1508760" cy="1600200"/>
          </a:xfrm>
          <a:prstGeom prst="roundRect">
            <a:avLst/>
          </a:prstGeom>
          <a:solidFill>
            <a:srgbClr val="F3EDFF"/>
          </a:solidFill>
          <a:ln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1508760" cy="384048"/>
          </a:xfrm>
          <a:prstGeom prst="roundRect">
            <a:avLst/>
          </a:prstGeom>
          <a:solidFill>
            <a:srgbClr val="805AD5"/>
          </a:solidFill>
          <a:ln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029968"/>
            <a:ext cx="14173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606040"/>
            <a:ext cx="1362456" cy="7315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263246"/>
                </a:solidFill>
                <a:latin typeface="Calibri"/>
              </a:defRPr>
            </a:pPr>
            <a:r>
              <a:t>Meaning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65208" y="2788920"/>
            <a:ext cx="155448" cy="0"/>
          </a:xfrm>
          <a:prstGeom prst="line">
            <a:avLst/>
          </a:prstGeom>
          <a:ln w="22860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75520" y="2011680"/>
            <a:ext cx="1508760" cy="1600200"/>
          </a:xfrm>
          <a:prstGeom prst="roundRect">
            <a:avLst/>
          </a:prstGeom>
          <a:solidFill>
            <a:srgbClr val="E5F9F7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75520" y="2011680"/>
            <a:ext cx="1508760" cy="384048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2029968"/>
            <a:ext cx="1417320" cy="329184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2606040"/>
            <a:ext cx="1362456" cy="7315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263246"/>
                </a:solidFill>
                <a:latin typeface="Calibri"/>
              </a:defRPr>
            </a:pPr>
            <a:r>
              <a:t>Grounded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977639"/>
            <a:ext cx="4983480" cy="749808"/>
          </a:xfrm>
          <a:prstGeom prst="roundRect">
            <a:avLst/>
          </a:prstGeom>
          <a:solidFill>
            <a:srgbClr val="FFF4E5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059936"/>
            <a:ext cx="4663440" cy="5486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400" b="1">
                <a:solidFill>
                  <a:srgbClr val="263246"/>
                </a:solidFill>
                <a:latin typeface="Calibri"/>
              </a:defRPr>
            </a:pPr>
            <a:r>
              <a:t>Goal: relevant answers with visible evidence.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53312"/>
            <a:ext cx="6537960" cy="4526280"/>
          </a:xfrm>
        </p:spPr>
        <p:txBody>
          <a:bodyPr wrap="square" lIns="73152" rIns="73152" tIns="36576" bIns="36576" anchor="t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200" b="0">
                <a:solidFill>
                  <a:srgbClr val="233046"/>
                </a:solidFill>
                <a:latin typeface="Calibri"/>
              </a:defRPr>
            </a:pPr>
            <a:r>
              <a:t>Build a local document QA pipeline for PDF and TXT files.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Combine BM25 keyword retrieval with FAISS vector retrieval.</a:t>
            </a:r>
          </a:p>
          <a:p>
            <a:pPr>
              <a:spcAft>
                <a:spcPts val="10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Filter retrieved context according to the selected user role.</a:t>
            </a:r>
          </a:p>
          <a:p>
            <a:pPr>
              <a:spcAft>
                <a:spcPts val="10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Generate answers with Llama 3.2:3b through Ollama.</a:t>
            </a:r>
          </a:p>
          <a:p>
            <a:pPr>
              <a:spcAft>
                <a:spcPts val="10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Check evidence support and use an insufficient-evidence fallback.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92B48"/>
                </a:solidFill>
                <a:latin typeface="Calibri"/>
              </a:defRPr>
            </a:pPr>
            <a: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r">
              <a:defRPr sz="1800">
                <a:solidFill>
                  <a:srgbClr val="374255"/>
                </a:solidFill>
                <a:latin typeface="Calibri"/>
              </a:defRPr>
            </a:pPr>
            <a:r>
              <a:t>Adaptive Enterprise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1417320"/>
            <a:ext cx="4389120" cy="38404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600" b="1">
                <a:solidFill>
                  <a:srgbClr val="18274B"/>
                </a:solidFill>
                <a:latin typeface="Calibri"/>
              </a:defRPr>
            </a:pPr>
            <a:r>
              <a:t>PROJECT GOALS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874519"/>
            <a:ext cx="4389120" cy="822960"/>
          </a:xfrm>
          <a:prstGeom prst="roundRect">
            <a:avLst/>
          </a:prstGeom>
          <a:solidFill>
            <a:srgbClr val="EBF3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5160" y="1874519"/>
            <a:ext cx="146304" cy="8229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947672"/>
            <a:ext cx="1417320" cy="6400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200" b="1">
                <a:solidFill>
                  <a:srgbClr val="2F6BFF"/>
                </a:solidFill>
                <a:latin typeface="Calibri"/>
              </a:defRPr>
            </a:pPr>
            <a:r>
              <a:t>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947672"/>
            <a:ext cx="2468880" cy="6400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300" b="1">
                <a:solidFill>
                  <a:srgbClr val="263246"/>
                </a:solidFill>
                <a:latin typeface="Calibri"/>
              </a:defRPr>
            </a:pPr>
            <a:r>
              <a:t>Combine BM25 + FAISS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2971800"/>
            <a:ext cx="4389120" cy="822960"/>
          </a:xfrm>
          <a:prstGeom prst="roundRect">
            <a:avLst/>
          </a:prstGeom>
          <a:solidFill>
            <a:srgbClr val="F3EDFF"/>
          </a:solidFill>
          <a:ln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95160" y="2971800"/>
            <a:ext cx="146304" cy="822960"/>
          </a:xfrm>
          <a:prstGeom prst="rect">
            <a:avLst/>
          </a:prstGeom>
          <a:solidFill>
            <a:srgbClr val="805AD5"/>
          </a:solidFill>
          <a:ln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044952"/>
            <a:ext cx="1417320" cy="6400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200" b="1">
                <a:solidFill>
                  <a:srgbClr val="805AD5"/>
                </a:solidFill>
                <a:latin typeface="Calibri"/>
              </a:defRPr>
            </a:pPr>
            <a:r>
              <a:t>PROTECT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044952"/>
            <a:ext cx="2468880" cy="6400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300" b="1">
                <a:solidFill>
                  <a:srgbClr val="263246"/>
                </a:solidFill>
                <a:latin typeface="Calibri"/>
              </a:defRPr>
            </a:pPr>
            <a:r>
              <a:t>Filter by user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4069080"/>
            <a:ext cx="4389120" cy="822960"/>
          </a:xfrm>
          <a:prstGeom prst="roundRect">
            <a:avLst/>
          </a:prstGeom>
          <a:solidFill>
            <a:srgbClr val="E5F9F7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95160" y="4069080"/>
            <a:ext cx="146304" cy="8229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142232"/>
            <a:ext cx="1417320" cy="6400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200" b="1">
                <a:solidFill>
                  <a:srgbClr val="00A6A6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142232"/>
            <a:ext cx="2468880" cy="6400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300" b="1">
                <a:solidFill>
                  <a:srgbClr val="263246"/>
                </a:solidFill>
                <a:latin typeface="Calibri"/>
              </a:defRPr>
            </a:pPr>
            <a:r>
              <a:t>Check evidence support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1325880"/>
            <a:ext cx="11704320" cy="4800600"/>
          </a:xfrm>
        </p:spPr>
        <p:txBody>
          <a:bodyPr/>
          <a:lstStyle/>
          <a:p>
            <a:pPr marL="0" indent="0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lvl="0">
              <a:defRPr sz="3600" b="1">
                <a:solidFill>
                  <a:srgbClr val="192B48"/>
                </a:solidFill>
                <a:latin typeface="Calibri"/>
              </a:defRPr>
            </a:pPr>
            <a:r>
              <a:t>System Architecture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r">
              <a:defRPr sz="1800">
                <a:solidFill>
                  <a:srgbClr val="374255"/>
                </a:solidFill>
                <a:latin typeface="Calibri"/>
              </a:defRPr>
            </a:pPr>
            <a:r>
              <a:t>Adaptive Enterprise Knowledge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1261872"/>
            <a:ext cx="11155680" cy="34747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600" b="1">
                <a:solidFill>
                  <a:srgbClr val="18274B"/>
                </a:solidFill>
                <a:latin typeface="Calibri"/>
              </a:defRPr>
            </a:pPr>
            <a:r>
              <a:t>END-TO-END SYSTEM 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874519"/>
            <a:ext cx="1828800" cy="1234440"/>
          </a:xfrm>
          <a:prstGeom prst="roundRect">
            <a:avLst/>
          </a:prstGeom>
          <a:solidFill>
            <a:srgbClr val="EBF3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1874519"/>
            <a:ext cx="1828800" cy="365760"/>
          </a:xfrm>
          <a:prstGeom prst="round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1883664"/>
            <a:ext cx="1755648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2331720"/>
            <a:ext cx="1682496" cy="5943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263246"/>
                </a:solidFill>
                <a:latin typeface="Calibri"/>
              </a:defRPr>
            </a:pPr>
            <a:r>
              <a:t>PDF / TXT</a:t>
            </a:r>
            <a:br/>
            <a:r>
              <a:t>metadata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03703" y="2496312"/>
            <a:ext cx="448057" cy="0"/>
          </a:xfrm>
          <a:prstGeom prst="line">
            <a:avLst/>
          </a:prstGeom>
          <a:ln w="2286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697480" y="1874519"/>
            <a:ext cx="1828800" cy="1234440"/>
          </a:xfrm>
          <a:prstGeom prst="roundRect">
            <a:avLst/>
          </a:prstGeom>
          <a:solidFill>
            <a:srgbClr val="E5F9F7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97480" y="1874519"/>
            <a:ext cx="1828800" cy="36576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34056" y="1883664"/>
            <a:ext cx="1755648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INGEST + CHUNK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0632" y="2331720"/>
            <a:ext cx="1682496" cy="5943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263246"/>
                </a:solidFill>
                <a:latin typeface="Calibri"/>
              </a:defRPr>
            </a:pPr>
            <a:r>
              <a:t>500 chars</a:t>
            </a:r>
            <a:br/>
            <a:r>
              <a:t>100 overlap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35424" y="2496312"/>
            <a:ext cx="448056" cy="0"/>
          </a:xfrm>
          <a:prstGeom prst="line">
            <a:avLst/>
          </a:prstGeom>
          <a:ln w="2286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029200" y="1874519"/>
            <a:ext cx="1828800" cy="1234440"/>
          </a:xfrm>
          <a:prstGeom prst="roundRect">
            <a:avLst/>
          </a:prstGeom>
          <a:solidFill>
            <a:srgbClr val="F3EDFF"/>
          </a:solidFill>
          <a:ln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0" y="1874519"/>
            <a:ext cx="1828800" cy="365760"/>
          </a:xfrm>
          <a:prstGeom prst="roundRect">
            <a:avLst/>
          </a:prstGeom>
          <a:solidFill>
            <a:srgbClr val="805AD5"/>
          </a:solidFill>
          <a:ln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65776" y="1883664"/>
            <a:ext cx="1755648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HYBRID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2331720"/>
            <a:ext cx="1682496" cy="5943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263246"/>
                </a:solidFill>
                <a:latin typeface="Calibri"/>
              </a:defRPr>
            </a:pPr>
            <a:r>
              <a:t>BM25 + FAISS</a:t>
            </a:r>
            <a:br/>
            <a:r>
              <a:t>score fusion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67144" y="2496312"/>
            <a:ext cx="448056" cy="0"/>
          </a:xfrm>
          <a:prstGeom prst="line">
            <a:avLst/>
          </a:prstGeom>
          <a:ln w="22860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60920" y="1874519"/>
            <a:ext cx="1828800" cy="1234440"/>
          </a:xfrm>
          <a:prstGeom prst="roundRect">
            <a:avLst/>
          </a:prstGeom>
          <a:solidFill>
            <a:srgbClr val="FFF4E5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60920" y="1874519"/>
            <a:ext cx="1828800" cy="365760"/>
          </a:xfrm>
          <a:prstGeom prst="round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97496" y="1883664"/>
            <a:ext cx="1755648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ROLE FILTER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34072" y="2331720"/>
            <a:ext cx="1682496" cy="5943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263246"/>
                </a:solidFill>
                <a:latin typeface="Calibri"/>
              </a:defRPr>
            </a:pPr>
            <a:r>
              <a:t>Access rules</a:t>
            </a:r>
            <a:br/>
            <a:r>
              <a:t>+ reranking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98864" y="2496312"/>
            <a:ext cx="448055" cy="0"/>
          </a:xfrm>
          <a:prstGeom prst="line">
            <a:avLst/>
          </a:prstGeom>
          <a:ln w="22860">
            <a:solidFill>
              <a:srgbClr val="F58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692640" y="1874519"/>
            <a:ext cx="1828800" cy="1234440"/>
          </a:xfrm>
          <a:prstGeom prst="roundRect">
            <a:avLst/>
          </a:prstGeom>
          <a:solidFill>
            <a:srgbClr val="E7F8ED"/>
          </a:solidFill>
          <a:ln>
            <a:solidFill>
              <a:srgbClr val="24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92640" y="1874519"/>
            <a:ext cx="1828800" cy="365760"/>
          </a:xfrm>
          <a:prstGeom prst="roundRect">
            <a:avLst/>
          </a:prstGeom>
          <a:solidFill>
            <a:srgbClr val="24A65B"/>
          </a:solidFill>
          <a:ln>
            <a:solidFill>
              <a:srgbClr val="24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9215" y="1883664"/>
            <a:ext cx="1755648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LOCAL LLM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2331720"/>
            <a:ext cx="1682496" cy="5943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263246"/>
                </a:solidFill>
                <a:latin typeface="Calibri"/>
              </a:defRPr>
            </a:pPr>
            <a:r>
              <a:t>Llama 3.2:3b</a:t>
            </a:r>
            <a:br/>
            <a:r>
              <a:t>Ollama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0" y="4069080"/>
            <a:ext cx="2468880" cy="1234440"/>
          </a:xfrm>
          <a:prstGeom prst="roundRect">
            <a:avLst/>
          </a:prstGeom>
          <a:solidFill>
            <a:srgbClr val="FFEBF2"/>
          </a:solidFill>
          <a:ln>
            <a:solidFill>
              <a:srgbClr val="E04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97280" y="4069080"/>
            <a:ext cx="2468880" cy="365760"/>
          </a:xfrm>
          <a:prstGeom prst="roundRect">
            <a:avLst/>
          </a:prstGeom>
          <a:solidFill>
            <a:srgbClr val="E04F85"/>
          </a:solidFill>
          <a:ln>
            <a:solidFill>
              <a:srgbClr val="E04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078224"/>
            <a:ext cx="2377440" cy="310896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EVIDENCE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7007" y="4526280"/>
            <a:ext cx="2249424" cy="6400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263246"/>
                </a:solidFill>
                <a:latin typeface="Calibri"/>
              </a:defRPr>
            </a:pPr>
            <a:r>
              <a:t>Heuristic support checks</a:t>
            </a:r>
            <a:br/>
            <a:r>
              <a:t>Unsupported → fallback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17720" y="4069080"/>
            <a:ext cx="2468880" cy="1234440"/>
          </a:xfrm>
          <a:prstGeom prst="roundRect">
            <a:avLst/>
          </a:prstGeom>
          <a:solidFill>
            <a:srgbClr val="EBF3FF"/>
          </a:solidFill>
          <a:ln>
            <a:solidFill>
              <a:srgbClr val="4E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617720" y="4069080"/>
            <a:ext cx="2468880" cy="365760"/>
          </a:xfrm>
          <a:prstGeom prst="roundRect">
            <a:avLst/>
          </a:prstGeom>
          <a:solidFill>
            <a:srgbClr val="4EADEB"/>
          </a:solidFill>
          <a:ln>
            <a:solidFill>
              <a:srgbClr val="4E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4078224"/>
            <a:ext cx="2377440" cy="310896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FASTAPI BACKEND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27448" y="4526280"/>
            <a:ext cx="2249424" cy="6400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263246"/>
                </a:solidFill>
                <a:latin typeface="Calibri"/>
              </a:defRPr>
            </a:pPr>
            <a:r>
              <a:t>POST /query</a:t>
            </a:r>
            <a:br/>
            <a:r>
              <a:t>Health endpoint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4069080"/>
            <a:ext cx="2468880" cy="1234440"/>
          </a:xfrm>
          <a:prstGeom prst="roundRect">
            <a:avLst/>
          </a:prstGeom>
          <a:solidFill>
            <a:srgbClr val="E5F9F7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138160" y="4069080"/>
            <a:ext cx="2468880" cy="36576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83880" y="4078224"/>
            <a:ext cx="2377440" cy="310896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STREAMLIT DASHBOARD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7888" y="4526280"/>
            <a:ext cx="2249424" cy="64008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263246"/>
                </a:solidFill>
                <a:latin typeface="Calibri"/>
              </a:defRPr>
            </a:pPr>
            <a:r>
              <a:t>Answer + filenames</a:t>
            </a:r>
            <a:br/>
            <a:r>
              <a:t>Role selector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2331720" y="3136392"/>
            <a:ext cx="8229600" cy="868680"/>
          </a:xfrm>
          <a:prstGeom prst="line">
            <a:avLst/>
          </a:prstGeom>
          <a:ln w="25400">
            <a:solidFill>
              <a:srgbClr val="24A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611880" y="4681728"/>
            <a:ext cx="941832" cy="0"/>
          </a:xfrm>
          <a:prstGeom prst="line">
            <a:avLst/>
          </a:prstGeom>
          <a:ln w="25400">
            <a:solidFill>
              <a:srgbClr val="E04F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114032" y="4681728"/>
            <a:ext cx="960120" cy="0"/>
          </a:xfrm>
          <a:prstGeom prst="line">
            <a:avLst/>
          </a:prstGeom>
          <a:ln w="25400">
            <a:solidFill>
              <a:srgbClr val="4EAD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31520" y="55961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0">
                <a:solidFill>
                  <a:srgbClr val="5D6C82"/>
                </a:solidFill>
                <a:latin typeface="Calibri"/>
              </a:defRPr>
            </a:pPr>
            <a:r>
              <a:t>Retrieval and role filtering precede generation; the checker reviews the generated answer.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53312"/>
            <a:ext cx="6629400" cy="4480560"/>
          </a:xfrm>
        </p:spPr>
        <p:txBody>
          <a:bodyPr wrap="square" lIns="73152" rIns="73152" tIns="36576" bIns="36576" anchor="t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200" b="0">
                <a:solidFill>
                  <a:srgbClr val="233046"/>
                </a:solidFill>
                <a:latin typeface="Calibri"/>
              </a:defRPr>
            </a:pPr>
            <a:r>
              <a:t>Relevant knowledge is fragmented across policy documents.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Lexical and semantic retrieval can return complementary evidence.</a:t>
            </a:r>
          </a:p>
          <a:p>
            <a:pPr>
              <a:spcAft>
                <a:spcPts val="10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Restricted content must not be passed to unauthorized users through context.</a:t>
            </a:r>
          </a:p>
          <a:p>
            <a:pPr>
              <a:spcAft>
                <a:spcPts val="10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Generated answers need a transparent response when evidence is insufficient.</a:t>
            </a:r>
          </a:p>
          <a:p>
            <a:pPr>
              <a:spcAft>
                <a:spcPts val="10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Goal: improve reliability while preserving role-aware access rules.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lvl="0">
              <a:defRPr sz="3600" b="1">
                <a:solidFill>
                  <a:srgbClr val="192B48"/>
                </a:solidFill>
                <a:latin typeface="Calibri"/>
              </a:defRPr>
            </a:pPr>
            <a: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r">
              <a:defRPr sz="1800">
                <a:solidFill>
                  <a:srgbClr val="374255"/>
                </a:solidFill>
                <a:latin typeface="Calibri"/>
              </a:defRPr>
            </a:pPr>
            <a:r>
              <a:t>Adaptive Enterprise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417320"/>
            <a:ext cx="4297680" cy="38404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600" b="1">
                <a:solidFill>
                  <a:srgbClr val="18274B"/>
                </a:solidFill>
                <a:latin typeface="Calibri"/>
              </a:defRPr>
            </a:pPr>
            <a:r>
              <a:t>CHALLENGE →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920240"/>
            <a:ext cx="4343400" cy="868680"/>
          </a:xfrm>
          <a:prstGeom prst="roundRect">
            <a:avLst/>
          </a:prstGeom>
          <a:solidFill>
            <a:srgbClr val="EBF3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5472" y="1993392"/>
            <a:ext cx="2057400" cy="6583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100" b="1">
                <a:solidFill>
                  <a:srgbClr val="2F6BFF"/>
                </a:solidFill>
                <a:latin typeface="Calibri"/>
              </a:defRPr>
            </a:pPr>
            <a:r>
              <a:t>FRAGMENTED FILES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26880" y="2350008"/>
            <a:ext cx="320040" cy="0"/>
          </a:xfrm>
          <a:prstGeom prst="line">
            <a:avLst/>
          </a:prstGeom>
          <a:ln w="2286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74352" y="1993392"/>
            <a:ext cx="1508760" cy="6583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100" b="1">
                <a:solidFill>
                  <a:srgbClr val="263246"/>
                </a:solidFill>
                <a:latin typeface="Calibri"/>
              </a:defRPr>
            </a:pPr>
            <a:r>
              <a:t>Unified ingestion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090672"/>
            <a:ext cx="4343400" cy="868680"/>
          </a:xfrm>
          <a:prstGeom prst="roundRect">
            <a:avLst/>
          </a:prstGeom>
          <a:solidFill>
            <a:srgbClr val="F3EDFF"/>
          </a:solidFill>
          <a:ln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3163824"/>
            <a:ext cx="2057400" cy="6583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100" b="1">
                <a:solidFill>
                  <a:srgbClr val="805AD5"/>
                </a:solidFill>
                <a:latin typeface="Calibri"/>
              </a:defRPr>
            </a:pPr>
            <a:r>
              <a:t>MISSED MEANING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0" y="3520439"/>
            <a:ext cx="320040" cy="0"/>
          </a:xfrm>
          <a:prstGeom prst="line">
            <a:avLst/>
          </a:prstGeom>
          <a:ln w="22860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74352" y="3163824"/>
            <a:ext cx="1508760" cy="6583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100" b="1">
                <a:solidFill>
                  <a:srgbClr val="263246"/>
                </a:solidFill>
                <a:latin typeface="Calibri"/>
              </a:defRPr>
            </a:pPr>
            <a:r>
              <a:t>Hybrid retrieval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4261104"/>
            <a:ext cx="4343400" cy="868680"/>
          </a:xfrm>
          <a:prstGeom prst="roundRect">
            <a:avLst/>
          </a:prstGeom>
          <a:solidFill>
            <a:srgbClr val="FFEBF2"/>
          </a:solidFill>
          <a:ln>
            <a:solidFill>
              <a:srgbClr val="E04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4334256"/>
            <a:ext cx="2057400" cy="6583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100" b="1">
                <a:solidFill>
                  <a:srgbClr val="E04F85"/>
                </a:solidFill>
                <a:latin typeface="Calibri"/>
              </a:defRPr>
            </a:pPr>
            <a:r>
              <a:t>UNSUPPORTED ANSWERS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26880" y="4690872"/>
            <a:ext cx="320040" cy="0"/>
          </a:xfrm>
          <a:prstGeom prst="line">
            <a:avLst/>
          </a:prstGeom>
          <a:ln w="22860">
            <a:solidFill>
              <a:srgbClr val="E04F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74352" y="4334256"/>
            <a:ext cx="1508760" cy="6583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100" b="1">
                <a:solidFill>
                  <a:srgbClr val="263246"/>
                </a:solidFill>
                <a:latin typeface="Calibri"/>
              </a:defRPr>
            </a:pPr>
            <a:r>
              <a:t>Evidence checks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53312"/>
            <a:ext cx="5577840" cy="4480560"/>
          </a:xfrm>
        </p:spPr>
        <p:txBody>
          <a:bodyPr wrap="square" lIns="73152" rIns="73152" tIns="36576" bIns="36576" anchor="t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100" b="0">
                <a:solidFill>
                  <a:srgbClr val="233046"/>
                </a:solidFill>
                <a:latin typeface="Calibri"/>
              </a:defRPr>
            </a:pPr>
            <a:r>
              <a:t>Ingest PDF/TXT documents and metadata.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100" b="0">
                <a:solidFill>
                  <a:srgbClr val="233046"/>
                </a:solidFill>
                <a:latin typeface="Calibri"/>
              </a:defRPr>
            </a:pPr>
            <a:r>
              <a:t>Split text into 500-character chunks with 100-character overlap.</a:t>
            </a:r>
          </a:p>
          <a:p>
            <a:pPr>
              <a:spcAft>
                <a:spcPts val="1000"/>
              </a:spcAft>
              <a:defRPr sz="2100" b="0">
                <a:solidFill>
                  <a:srgbClr val="233046"/>
                </a:solidFill>
                <a:latin typeface="Calibri"/>
              </a:defRPr>
            </a:pPr>
            <a:r>
              <a:t>Build BM25 and FAISS retrieval indexes.</a:t>
            </a:r>
          </a:p>
          <a:p>
            <a:pPr>
              <a:spcAft>
                <a:spcPts val="1000"/>
              </a:spcAft>
              <a:defRPr sz="2100" b="0">
                <a:solidFill>
                  <a:srgbClr val="233046"/>
                </a:solidFill>
                <a:latin typeface="Calibri"/>
              </a:defRPr>
            </a:pPr>
            <a:r>
              <a:t>Fuse normalized scores using α = 0.5; filter by role and rerank.</a:t>
            </a:r>
          </a:p>
          <a:p>
            <a:pPr>
              <a:spcAft>
                <a:spcPts val="1000"/>
              </a:spcAft>
              <a:defRPr sz="2100" b="0">
                <a:solidFill>
                  <a:srgbClr val="233046"/>
                </a:solidFill>
                <a:latin typeface="Calibri"/>
              </a:defRPr>
            </a:pPr>
            <a:r>
              <a:t>Generate an answer, then run heuristic evidence checks.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lvl="0">
              <a:defRPr sz="3600" b="1">
                <a:solidFill>
                  <a:srgbClr val="192B48"/>
                </a:solidFill>
                <a:latin typeface="Calibri"/>
              </a:defRPr>
            </a:pPr>
            <a: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r">
              <a:defRPr sz="1800">
                <a:solidFill>
                  <a:srgbClr val="374255"/>
                </a:solidFill>
                <a:latin typeface="Calibri"/>
              </a:defRPr>
            </a:pPr>
            <a:r>
              <a:t>Adaptive Enterprise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064240" cy="347472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600" b="1">
                <a:solidFill>
                  <a:srgbClr val="18274B"/>
                </a:solidFill>
                <a:latin typeface="Calibri"/>
              </a:defRPr>
            </a:pPr>
            <a:r>
              <a:t>FROM RAW DOCUMENTS TO EVIDENCE-GROUNDED ANSWERS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600200" cy="2057400"/>
          </a:xfrm>
          <a:prstGeom prst="roundRect">
            <a:avLst/>
          </a:prstGeom>
          <a:solidFill>
            <a:srgbClr val="EBF3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600200" cy="438912"/>
          </a:xfrm>
          <a:prstGeom prst="round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47088"/>
            <a:ext cx="1453896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 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87168"/>
            <a:ext cx="1380744" cy="10515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263246"/>
                </a:solidFill>
                <a:latin typeface="Calibri"/>
              </a:defRPr>
            </a:pPr>
            <a:r>
              <a:t>PDF / TXT</a:t>
            </a:r>
            <a:br/>
            <a:r>
              <a:t>+ metadata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21408" y="2852928"/>
            <a:ext cx="274320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41448" y="1828800"/>
            <a:ext cx="1600200" cy="2057400"/>
          </a:xfrm>
          <a:prstGeom prst="roundRect">
            <a:avLst/>
          </a:prstGeom>
          <a:solidFill>
            <a:srgbClr val="E5F9F7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41448" y="1828800"/>
            <a:ext cx="1600200" cy="438912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1847088"/>
            <a:ext cx="1453896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  CHUNK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176" y="2487168"/>
            <a:ext cx="1380744" cy="10515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263246"/>
                </a:solidFill>
                <a:latin typeface="Calibri"/>
              </a:defRPr>
            </a:pPr>
            <a:r>
              <a:t>500 characters</a:t>
            </a:r>
            <a:br/>
            <a:r>
              <a:t>100 overlap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59935" y="2852928"/>
            <a:ext cx="274321" cy="0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79976" y="1828800"/>
            <a:ext cx="1600200" cy="2057400"/>
          </a:xfrm>
          <a:prstGeom prst="roundRect">
            <a:avLst/>
          </a:prstGeom>
          <a:solidFill>
            <a:srgbClr val="F3EDFF"/>
          </a:solidFill>
          <a:ln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79976" y="1828800"/>
            <a:ext cx="1600200" cy="438912"/>
          </a:xfrm>
          <a:prstGeom prst="roundRect">
            <a:avLst/>
          </a:prstGeom>
          <a:solidFill>
            <a:srgbClr val="805AD5"/>
          </a:solidFill>
          <a:ln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1847088"/>
            <a:ext cx="1453896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  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2487168"/>
            <a:ext cx="1380744" cy="10515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263246"/>
                </a:solidFill>
                <a:latin typeface="Calibri"/>
              </a:defRPr>
            </a:pPr>
            <a:r>
              <a:t>BM25 + FAISS</a:t>
            </a:r>
            <a:br/>
            <a:r>
              <a:t>hybrid search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98464" y="2852928"/>
            <a:ext cx="274320" cy="0"/>
          </a:xfrm>
          <a:prstGeom prst="line">
            <a:avLst/>
          </a:prstGeom>
          <a:ln w="25400">
            <a:solidFill>
              <a:srgbClr val="805A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18504" y="1828800"/>
            <a:ext cx="1600200" cy="2057400"/>
          </a:xfrm>
          <a:prstGeom prst="roundRect">
            <a:avLst/>
          </a:prstGeom>
          <a:solidFill>
            <a:srgbClr val="FFF4E5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18504" y="1828800"/>
            <a:ext cx="1600200" cy="438912"/>
          </a:xfrm>
          <a:prstGeom prst="round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1847088"/>
            <a:ext cx="1453896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04  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487168"/>
            <a:ext cx="1380744" cy="10515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263246"/>
                </a:solidFill>
                <a:latin typeface="Calibri"/>
              </a:defRPr>
            </a:pPr>
            <a:r>
              <a:t>Role-aware</a:t>
            </a:r>
            <a:br/>
            <a:r>
              <a:t>context filtering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36992" y="2852928"/>
            <a:ext cx="274319" cy="0"/>
          </a:xfrm>
          <a:prstGeom prst="line">
            <a:avLst/>
          </a:prstGeom>
          <a:ln w="25400">
            <a:solidFill>
              <a:srgbClr val="F58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57031" y="1828800"/>
            <a:ext cx="1600200" cy="2057400"/>
          </a:xfrm>
          <a:prstGeom prst="roundRect">
            <a:avLst/>
          </a:prstGeom>
          <a:solidFill>
            <a:srgbClr val="E7F8ED"/>
          </a:solidFill>
          <a:ln>
            <a:solidFill>
              <a:srgbClr val="24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57031" y="1828800"/>
            <a:ext cx="1600200" cy="438912"/>
          </a:xfrm>
          <a:prstGeom prst="roundRect">
            <a:avLst/>
          </a:prstGeom>
          <a:solidFill>
            <a:srgbClr val="24A65B"/>
          </a:solidFill>
          <a:ln>
            <a:solidFill>
              <a:srgbClr val="24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3" y="1847088"/>
            <a:ext cx="1453896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05  GENERATE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2487168"/>
            <a:ext cx="1380744" cy="10515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263246"/>
                </a:solidFill>
                <a:latin typeface="Calibri"/>
              </a:defRPr>
            </a:pPr>
            <a:r>
              <a:t>Llama 3.2:3b</a:t>
            </a:r>
            <a:br/>
            <a:r>
              <a:t>via Ollama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875519" y="2852928"/>
            <a:ext cx="274321" cy="0"/>
          </a:xfrm>
          <a:prstGeom prst="line">
            <a:avLst/>
          </a:prstGeom>
          <a:ln w="25400">
            <a:solidFill>
              <a:srgbClr val="24A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95560" y="1828800"/>
            <a:ext cx="1600200" cy="2057400"/>
          </a:xfrm>
          <a:prstGeom prst="roundRect">
            <a:avLst/>
          </a:prstGeom>
          <a:solidFill>
            <a:srgbClr val="FFEBF2"/>
          </a:solidFill>
          <a:ln>
            <a:solidFill>
              <a:srgbClr val="E04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195560" y="1828800"/>
            <a:ext cx="1600200" cy="438912"/>
          </a:xfrm>
          <a:prstGeom prst="roundRect">
            <a:avLst/>
          </a:prstGeom>
          <a:solidFill>
            <a:srgbClr val="E04F85"/>
          </a:solidFill>
          <a:ln>
            <a:solidFill>
              <a:srgbClr val="E04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68712" y="1847088"/>
            <a:ext cx="1453896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06  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5288" y="2487168"/>
            <a:ext cx="1380744" cy="10515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1">
                <a:solidFill>
                  <a:srgbClr val="263246"/>
                </a:solidFill>
                <a:latin typeface="Calibri"/>
              </a:defRPr>
            </a:pPr>
            <a:r>
              <a:t>Heuristic evidence</a:t>
            </a:r>
            <a:br/>
            <a:r>
              <a:t>checks + fallback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" y="4434840"/>
            <a:ext cx="10149840" cy="841248"/>
          </a:xfrm>
          <a:prstGeom prst="roundRect">
            <a:avLst/>
          </a:prstGeom>
          <a:solidFill>
            <a:srgbClr val="18274B"/>
          </a:solidFill>
          <a:ln>
            <a:solidFill>
              <a:srgbClr val="18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4440" y="4535424"/>
            <a:ext cx="9692640" cy="5943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If evidence is insufficient → “Insufficient evidence in the available documents.”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486400"/>
            <a:ext cx="10972800" cy="3200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300" b="0">
                <a:solidFill>
                  <a:srgbClr val="5D6C82"/>
                </a:solidFill>
                <a:latin typeface="Calibri"/>
              </a:defRPr>
            </a:pPr>
            <a:r>
              <a:t>Local inference • Transparent evidence handling • Role-aware retrieval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53312"/>
            <a:ext cx="11155680" cy="3886200"/>
          </a:xfrm>
        </p:spPr>
        <p:txBody>
          <a:bodyPr wrap="square" lIns="73152" rIns="73152" tIns="36576" bIns="36576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  <a:defRPr sz="2300" b="1">
                <a:solidFill>
                  <a:srgbClr val="233046"/>
                </a:solidFill>
                <a:latin typeface="Calibri"/>
              </a:defRPr>
            </a:pPr>
            <a:r>
              <a:t>Retrieval: BM25 keyword ranking + FAISS vector similarity.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8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Fusion: min–max score normalization; hybrid score = 0.5 × BM25 + 0.5 × vector.</a:t>
            </a:r>
          </a:p>
          <a:p>
            <a:pPr>
              <a:spcAft>
                <a:spcPts val="8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Reranking: custom score-based ranking and deduplication; not a neural cross-encoder.</a:t>
            </a:r>
          </a:p>
          <a:p>
            <a:pPr>
              <a:spcAft>
                <a:spcPts val="8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LLM &amp; embeddings: Ollama, llama3.2:3b, nomic-embed-text.</a:t>
            </a:r>
          </a:p>
          <a:p>
            <a:pPr>
              <a:spcAft>
                <a:spcPts val="8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Application: Python 3.11, PyPDF, FastAPI, Streamlit, PyTest and Docker.</a:t>
            </a:r>
          </a:p>
          <a:p>
            <a:pPr>
              <a:spcAft>
                <a:spcPts val="8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CI/CD: GitHub Actions and container publishing are planned next steps.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lvl="0">
              <a:defRPr sz="3600" b="1">
                <a:solidFill>
                  <a:srgbClr val="192B48"/>
                </a:solidFill>
                <a:latin typeface="Calibri"/>
              </a:defRPr>
            </a:pPr>
            <a: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r">
              <a:defRPr sz="1800">
                <a:solidFill>
                  <a:srgbClr val="374255"/>
                </a:solidFill>
                <a:latin typeface="Calibri"/>
              </a:defRPr>
            </a:pPr>
            <a:r>
              <a:t>Adaptive Enterprise Knowledge 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49240"/>
            <a:ext cx="2057400" cy="658368"/>
          </a:xfrm>
          <a:prstGeom prst="roundRect">
            <a:avLst/>
          </a:prstGeom>
          <a:solidFill>
            <a:srgbClr val="EBF3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5367527"/>
            <a:ext cx="1947672" cy="2743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000" b="1">
                <a:solidFill>
                  <a:srgbClr val="2F6BFF"/>
                </a:solidFill>
                <a:latin typeface="Calibri"/>
              </a:defRPr>
            </a:pPr>
            <a:r>
              <a:t>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5641848"/>
            <a:ext cx="1947672" cy="29260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263246"/>
                </a:solidFill>
                <a:latin typeface="Calibri"/>
              </a:defRPr>
            </a:pPr>
            <a:r>
              <a:t>BM25 + FAISS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5349240"/>
            <a:ext cx="2057400" cy="658368"/>
          </a:xfrm>
          <a:prstGeom prst="roundRect">
            <a:avLst/>
          </a:prstGeom>
          <a:solidFill>
            <a:srgbClr val="F3EDFF"/>
          </a:solidFill>
          <a:ln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5367527"/>
            <a:ext cx="1947672" cy="2743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000" b="1">
                <a:solidFill>
                  <a:srgbClr val="805AD5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5641848"/>
            <a:ext cx="1947672" cy="29260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263246"/>
                </a:solidFill>
                <a:latin typeface="Calibri"/>
              </a:defRPr>
            </a:pPr>
            <a:r>
              <a:t>Ollama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5349240"/>
            <a:ext cx="2057400" cy="658368"/>
          </a:xfrm>
          <a:prstGeom prst="roundRect">
            <a:avLst/>
          </a:prstGeom>
          <a:solidFill>
            <a:srgbClr val="E5F9F7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3" y="5367527"/>
            <a:ext cx="1947672" cy="2743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000" b="1">
                <a:solidFill>
                  <a:srgbClr val="00A6A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3" y="5641848"/>
            <a:ext cx="1947672" cy="29260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263246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5349240"/>
            <a:ext cx="2057400" cy="658368"/>
          </a:xfrm>
          <a:prstGeom prst="roundRect">
            <a:avLst/>
          </a:prstGeom>
          <a:solidFill>
            <a:srgbClr val="FFF4E5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5784" y="5367527"/>
            <a:ext cx="1947672" cy="2743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000" b="1">
                <a:solidFill>
                  <a:srgbClr val="F58B1F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5784" y="5641848"/>
            <a:ext cx="1947672" cy="29260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263246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5349240"/>
            <a:ext cx="2057400" cy="658368"/>
          </a:xfrm>
          <a:prstGeom prst="roundRect">
            <a:avLst/>
          </a:prstGeom>
          <a:solidFill>
            <a:srgbClr val="E7F8ED"/>
          </a:solidFill>
          <a:ln>
            <a:solidFill>
              <a:srgbClr val="24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01784" y="5367527"/>
            <a:ext cx="1947672" cy="2743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000" b="1">
                <a:solidFill>
                  <a:srgbClr val="24A65B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01784" y="5641848"/>
            <a:ext cx="1947672" cy="29260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1">
                <a:solidFill>
                  <a:srgbClr val="263246"/>
                </a:solidFill>
                <a:latin typeface="Calibri"/>
              </a:defRPr>
            </a:pPr>
            <a:r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53312"/>
            <a:ext cx="4663440" cy="4480560"/>
          </a:xfrm>
        </p:spPr>
        <p:txBody>
          <a:bodyPr wrap="square" lIns="73152" rIns="73152" tIns="36576" bIns="36576" anchor="t"/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  <a:defRPr sz="2300" b="1">
                <a:solidFill>
                  <a:srgbClr val="233046"/>
                </a:solidFill>
                <a:latin typeface="Calibri"/>
              </a:defRPr>
            </a:pPr>
            <a:r>
              <a:t>Corpus: 14 files and 404 chunks.</a:t>
            </a:r>
          </a:p>
          <a:p>
            <a:pPr>
              <a:spcAft>
                <a:spcPts val="12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BM25 Recall@3: 75% (6/8 questions).</a:t>
            </a:r>
          </a:p>
          <a:p>
            <a:pPr>
              <a:spcAft>
                <a:spcPts val="12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Vector Recall@3: 100% (8/8 questions).</a:t>
            </a:r>
          </a:p>
          <a:p>
            <a:pPr>
              <a:spcAft>
                <a:spcPts val="12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Hybrid Recall@3: 100% (8/8 questions).</a:t>
            </a:r>
          </a:p>
          <a:p>
            <a:pPr>
              <a:spcAft>
                <a:spcPts val="12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14 tests passed in the reported test run.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lvl="0">
              <a:defRPr sz="3600" b="1">
                <a:solidFill>
                  <a:srgbClr val="192B48"/>
                </a:solidFill>
                <a:latin typeface="Calibri"/>
              </a:defRPr>
            </a:pPr>
            <a: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r">
              <a:defRPr sz="1800">
                <a:solidFill>
                  <a:srgbClr val="374255"/>
                </a:solidFill>
                <a:latin typeface="Calibri"/>
              </a:defRPr>
            </a:pPr>
            <a:r>
              <a:t>Adaptive Enterprise Knowledge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5577840"/>
            <a:ext cx="6583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55F6E"/>
                </a:solidFill>
                <a:latin typeface="Calibri"/>
              </a:defRPr>
            </a:pPr>
            <a:r>
              <a:t>Small evaluation set; preliminary results, not a production guarantee.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11064240" cy="36576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600" b="1">
                <a:solidFill>
                  <a:srgbClr val="18274B"/>
                </a:solidFill>
                <a:latin typeface="Calibri"/>
              </a:defRPr>
            </a:pPr>
            <a:r>
              <a:t>RETRIEVAL QUALITY ON THE CURRENT 8-QUESTION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417320" cy="5029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700" b="1">
                <a:solidFill>
                  <a:srgbClr val="18274B"/>
                </a:solidFill>
                <a:latin typeface="Calibri"/>
              </a:defRPr>
            </a:pPr>
            <a:r>
              <a:t>BM25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965960"/>
            <a:ext cx="5669280" cy="384048"/>
          </a:xfrm>
          <a:prstGeom prst="roundRect">
            <a:avLst/>
          </a:prstGeom>
          <a:solidFill>
            <a:srgbClr val="EAEFF6"/>
          </a:solidFill>
          <a:ln>
            <a:solidFill>
              <a:srgbClr val="EA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40" y="1965960"/>
            <a:ext cx="4251960" cy="384048"/>
          </a:xfrm>
          <a:prstGeom prst="round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01952"/>
            <a:ext cx="1508760" cy="5486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600" b="1">
                <a:solidFill>
                  <a:srgbClr val="2F6BFF"/>
                </a:solidFill>
                <a:latin typeface="Calibri"/>
              </a:defRPr>
            </a:pPr>
            <a:r>
              <a:t>75%  (6 / 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9232"/>
            <a:ext cx="1417320" cy="5029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700" b="1">
                <a:solidFill>
                  <a:srgbClr val="18274B"/>
                </a:solidFill>
                <a:latin typeface="Calibri"/>
              </a:defRPr>
            </a:pPr>
            <a:r>
              <a:t>Vector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3044952"/>
            <a:ext cx="5669280" cy="384048"/>
          </a:xfrm>
          <a:prstGeom prst="roundRect">
            <a:avLst/>
          </a:prstGeom>
          <a:solidFill>
            <a:srgbClr val="EAEFF6"/>
          </a:solidFill>
          <a:ln>
            <a:solidFill>
              <a:srgbClr val="EA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77440" y="3044952"/>
            <a:ext cx="5669280" cy="384048"/>
          </a:xfrm>
          <a:prstGeom prst="roundRect">
            <a:avLst/>
          </a:prstGeom>
          <a:solidFill>
            <a:srgbClr val="805AD5"/>
          </a:solidFill>
          <a:ln>
            <a:solidFill>
              <a:srgbClr val="805A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980944"/>
            <a:ext cx="1508760" cy="5486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600" b="1">
                <a:solidFill>
                  <a:srgbClr val="805AD5"/>
                </a:solidFill>
                <a:latin typeface="Calibri"/>
              </a:defRPr>
            </a:pPr>
            <a:r>
              <a:t>100%  (8 / 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78224"/>
            <a:ext cx="1417320" cy="5029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700" b="1">
                <a:solidFill>
                  <a:srgbClr val="18274B"/>
                </a:solidFill>
                <a:latin typeface="Calibri"/>
              </a:defRPr>
            </a:pPr>
            <a:r>
              <a:t>Hybrid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4123944"/>
            <a:ext cx="5669280" cy="384048"/>
          </a:xfrm>
          <a:prstGeom prst="roundRect">
            <a:avLst/>
          </a:prstGeom>
          <a:solidFill>
            <a:srgbClr val="EAEFF6"/>
          </a:solidFill>
          <a:ln>
            <a:solidFill>
              <a:srgbClr val="EA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77440" y="4123944"/>
            <a:ext cx="5669280" cy="384048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59936"/>
            <a:ext cx="1508760" cy="54864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600" b="1">
                <a:solidFill>
                  <a:srgbClr val="00A6A6"/>
                </a:solidFill>
                <a:latin typeface="Calibri"/>
              </a:defRPr>
            </a:pPr>
            <a:r>
              <a:t>100%  (8 / 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440680"/>
            <a:ext cx="10149840" cy="594360"/>
          </a:xfrm>
          <a:prstGeom prst="roundRect">
            <a:avLst/>
          </a:prstGeom>
          <a:solidFill>
            <a:srgbClr val="18274B"/>
          </a:solidFill>
          <a:ln>
            <a:solidFill>
              <a:srgbClr val="18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477256"/>
            <a:ext cx="9784080" cy="50292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Hybrid retrieval matched the best observed Recall@3 in this small test 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15600" cy="228600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ctr">
              <a:defRPr sz="1100" b="0">
                <a:solidFill>
                  <a:srgbClr val="5D6C82"/>
                </a:solidFill>
                <a:latin typeface="Calibri"/>
              </a:defRPr>
            </a:pPr>
            <a:r>
              <a:t>Preliminary results only; larger, diverse evaluation is required.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53312"/>
            <a:ext cx="7315200" cy="4480560"/>
          </a:xfrm>
        </p:spPr>
        <p:txBody>
          <a:bodyPr wrap="square" lIns="73152" rIns="73152" tIns="36576" bIns="36576" anchor="t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200" b="0">
                <a:solidFill>
                  <a:srgbClr val="233046"/>
                </a:solidFill>
                <a:latin typeface="Calibri"/>
              </a:defRPr>
            </a:pPr>
            <a:r>
              <a:t>A working local RAG prototype was built for enterprise policy Q&amp;A.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Hybrid retrieval reached 100% Recall@3 on the current 8-question set.</a:t>
            </a:r>
          </a:p>
          <a:p>
            <a:pPr>
              <a:spcAft>
                <a:spcPts val="10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Role filtering, grounded prompting and fallback support safer answers.</a:t>
            </a:r>
          </a:p>
          <a:p>
            <a:pPr>
              <a:spcAft>
                <a:spcPts val="10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Evidence verification is heuristic and needs stronger semantic evaluation.</a:t>
            </a:r>
          </a:p>
          <a:p>
            <a:pPr>
              <a:spcAft>
                <a:spcPts val="1000"/>
              </a:spcAft>
              <a:defRPr sz="2200" b="0">
                <a:solidFill>
                  <a:srgbClr val="233046"/>
                </a:solidFill>
                <a:latin typeface="Calibri"/>
              </a:defRPr>
            </a:pPr>
            <a:r>
              <a:t>Next: expand the benchmark, strengthen access isolation and implement CI/CD.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lvl="0">
              <a:defRPr sz="3600" b="1">
                <a:solidFill>
                  <a:srgbClr val="192B48"/>
                </a:solidFill>
                <a:latin typeface="Calibri"/>
              </a:defRPr>
            </a:pPr>
            <a: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r">
              <a:defRPr sz="1800">
                <a:solidFill>
                  <a:srgbClr val="374255"/>
                </a:solidFill>
                <a:latin typeface="Calibri"/>
              </a:defRPr>
            </a:pPr>
            <a:r>
              <a:t>Adaptive Enterprise Knowledge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417320"/>
            <a:ext cx="3749039" cy="38404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600" b="1">
                <a:solidFill>
                  <a:srgbClr val="18274B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874519"/>
            <a:ext cx="3749039" cy="822960"/>
          </a:xfrm>
          <a:prstGeom prst="roundRect">
            <a:avLst/>
          </a:prstGeom>
          <a:solidFill>
            <a:srgbClr val="E5F9F7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74519"/>
            <a:ext cx="137160" cy="82296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3568" y="1938527"/>
            <a:ext cx="1417320" cy="6583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000" b="1">
                <a:solidFill>
                  <a:srgbClr val="00A6A6"/>
                </a:solidFill>
                <a:latin typeface="Calibri"/>
              </a:defRPr>
            </a:pPr>
            <a:r>
              <a:t>WORKING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8592" y="1938527"/>
            <a:ext cx="1965960" cy="6583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100" b="1">
                <a:solidFill>
                  <a:srgbClr val="263246"/>
                </a:solidFill>
                <a:latin typeface="Calibri"/>
              </a:defRPr>
            </a:pPr>
            <a:r>
              <a:t>Local RAG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971800"/>
            <a:ext cx="3749039" cy="822960"/>
          </a:xfrm>
          <a:prstGeom prst="roundRect">
            <a:avLst/>
          </a:prstGeom>
          <a:solidFill>
            <a:srgbClr val="EBF3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2971800"/>
            <a:ext cx="137160" cy="8229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3035808"/>
            <a:ext cx="1417320" cy="6583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000" b="1">
                <a:solidFill>
                  <a:srgbClr val="2F6BFF"/>
                </a:solidFill>
                <a:latin typeface="Calibri"/>
              </a:defRPr>
            </a:pPr>
            <a:r>
              <a:t>PROMISING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3035808"/>
            <a:ext cx="1965960" cy="6583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100" b="1">
                <a:solidFill>
                  <a:srgbClr val="263246"/>
                </a:solidFill>
                <a:latin typeface="Calibri"/>
              </a:defRPr>
            </a:pPr>
            <a:r>
              <a:t>Hybrid Recall@3 = 100%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069080"/>
            <a:ext cx="3749039" cy="822960"/>
          </a:xfrm>
          <a:prstGeom prst="roundRect">
            <a:avLst/>
          </a:prstGeom>
          <a:solidFill>
            <a:srgbClr val="FFF4E5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4069080"/>
            <a:ext cx="137160" cy="822960"/>
          </a:xfrm>
          <a:prstGeom prst="rect">
            <a:avLst/>
          </a:prstGeom>
          <a:solidFill>
            <a:srgbClr val="F58B1F"/>
          </a:solidFill>
          <a:ln>
            <a:solidFill>
              <a:srgbClr val="F58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4133088"/>
            <a:ext cx="1417320" cy="6583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000" b="1">
                <a:solidFill>
                  <a:srgbClr val="F58B1F"/>
                </a:solidFill>
                <a:latin typeface="Calibri"/>
              </a:defRPr>
            </a:pPr>
            <a:r>
              <a:t>NEXT ITERATION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4133088"/>
            <a:ext cx="1965960" cy="658368"/>
          </a:xfrm>
          <a:prstGeom prst="rect">
            <a:avLst/>
          </a:prstGeom>
          <a:noFill/>
        </p:spPr>
        <p:txBody>
          <a:bodyPr wrap="square" lIns="73152" rIns="73152" tIns="18288" bIns="18288" anchor="ctr">
            <a:spAutoFit/>
          </a:bodyPr>
          <a:lstStyle/>
          <a:p>
            <a:pPr algn="l">
              <a:defRPr sz="1100" b="1">
                <a:solidFill>
                  <a:srgbClr val="263246"/>
                </a:solidFill>
                <a:latin typeface="Calibri"/>
              </a:defRPr>
            </a:pPr>
            <a:r>
              <a:t>Bigger benchmark + CI/CD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920" y="1508760"/>
            <a:ext cx="10789920" cy="4297680"/>
          </a:xfrm>
        </p:spPr>
        <p:txBody>
          <a:bodyPr wrap="square" lIns="73152" rIns="73152" tIns="36576" bIns="36576" anchor="t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2300" b="0">
                <a:solidFill>
                  <a:srgbClr val="233046"/>
                </a:solidFill>
                <a:latin typeface="Calibri"/>
              </a:defRPr>
            </a:pPr>
            <a:r>
              <a:t>VIT Vellore and LTIMindTree for the M.Tech Advanced Industry Integrated Program.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300" b="0">
                <a:solidFill>
                  <a:srgbClr val="233046"/>
                </a:solidFill>
                <a:latin typeface="Calibri"/>
              </a:defRPr>
            </a:pPr>
            <a:r>
              <a:t>Faculty guide and project mentors for their guidance and review feedback.</a:t>
            </a:r>
          </a:p>
          <a:p>
            <a:pPr>
              <a:spcAft>
                <a:spcPts val="1000"/>
              </a:spcAft>
              <a:defRPr sz="2300" b="0">
                <a:solidFill>
                  <a:srgbClr val="233046"/>
                </a:solidFill>
                <a:latin typeface="Calibri"/>
              </a:defRPr>
            </a:pPr>
            <a:r>
              <a:t>Open-source communities behind Python, LangChain, FAISS, FastAPI, Streamlit and Ollama.</a:t>
            </a:r>
          </a:p>
          <a:p>
            <a:pPr>
              <a:spcAft>
                <a:spcPts val="1000"/>
              </a:spcAft>
              <a:defRPr sz="2300" b="0">
                <a:solidFill>
                  <a:srgbClr val="233046"/>
                </a:solidFill>
                <a:latin typeface="Calibri"/>
              </a:defRPr>
            </a:pPr>
            <a:r>
              <a:t>Publicly available university policy documents used to demonstrate ingestion.</a:t>
            </a:r>
          </a:p>
          <a:p>
            <a:pPr>
              <a:spcAft>
                <a:spcPts val="1000"/>
              </a:spcAft>
              <a:defRPr sz="2300" b="0">
                <a:solidFill>
                  <a:srgbClr val="233046"/>
                </a:solidFill>
                <a:latin typeface="Calibri"/>
              </a:defRPr>
            </a:pPr>
            <a:r>
              <a:t>Experiments used a prototype corpus and local inference setup.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lvl="0">
              <a:defRPr sz="3600" b="1">
                <a:solidFill>
                  <a:srgbClr val="192B48"/>
                </a:solidFill>
                <a:latin typeface="Calibri"/>
              </a:defRPr>
            </a:pPr>
            <a: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r">
              <a:defRPr sz="1800">
                <a:solidFill>
                  <a:srgbClr val="374255"/>
                </a:solidFill>
                <a:latin typeface="Calibri"/>
              </a:defRPr>
            </a:pPr>
            <a:r>
              <a:t>Adaptive Enterprise Knowledge Assistant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032" y="1353312"/>
            <a:ext cx="11064240" cy="4663440"/>
          </a:xfrm>
        </p:spPr>
        <p:txBody>
          <a:bodyPr wrap="square" lIns="73152" rIns="73152" tIns="36576" bIns="36576" anchor="t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  <a:defRPr sz="1900" b="0">
                <a:solidFill>
                  <a:srgbClr val="233046"/>
                </a:solidFill>
                <a:latin typeface="Calibri"/>
              </a:defRPr>
            </a:pPr>
            <a:r>
              <a:t>1. Lewis et al., “Retrieval-Augmented Generation for Knowledge-Intensive NLP Tasks,” NeurIPS, 2020.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1900" b="0">
                <a:solidFill>
                  <a:srgbClr val="233046"/>
                </a:solidFill>
                <a:latin typeface="Calibri"/>
              </a:defRPr>
            </a:pPr>
            <a:r>
              <a:t>2. Robertson &amp; Zaragoza, “The Probabilistic Relevance Framework: BM25 and Beyond,” Foundations and Trends in IR, 2009.</a:t>
            </a:r>
          </a:p>
          <a:p>
            <a:pPr>
              <a:spcAft>
                <a:spcPts val="1000"/>
              </a:spcAft>
              <a:defRPr sz="1900" b="0">
                <a:solidFill>
                  <a:srgbClr val="233046"/>
                </a:solidFill>
                <a:latin typeface="Calibri"/>
              </a:defRPr>
            </a:pPr>
            <a:r>
              <a:t>3. Johnson, Douze &amp; Jégou, “Billion-scale similarity search with GPUs,” IEEE Transactions on Big Data, 2019 (FAISS).</a:t>
            </a:r>
          </a:p>
          <a:p>
            <a:pPr>
              <a:spcAft>
                <a:spcPts val="1000"/>
              </a:spcAft>
              <a:defRPr sz="1900" b="0">
                <a:solidFill>
                  <a:srgbClr val="233046"/>
                </a:solidFill>
                <a:latin typeface="Calibri"/>
              </a:defRPr>
            </a:pPr>
            <a:r>
              <a:t>4. Ollama documentation: https://ollama.com</a:t>
            </a:r>
          </a:p>
          <a:p>
            <a:pPr>
              <a:spcAft>
                <a:spcPts val="1000"/>
              </a:spcAft>
              <a:defRPr sz="1900" b="0">
                <a:solidFill>
                  <a:srgbClr val="233046"/>
                </a:solidFill>
                <a:latin typeface="Calibri"/>
              </a:defRPr>
            </a:pPr>
            <a:r>
              <a:t>5. FastAPI documentation: https://fastapi.tiangolo.com</a:t>
            </a:r>
          </a:p>
          <a:p>
            <a:pPr>
              <a:spcAft>
                <a:spcPts val="1000"/>
              </a:spcAft>
              <a:defRPr sz="1900" b="0">
                <a:solidFill>
                  <a:srgbClr val="233046"/>
                </a:solidFill>
                <a:latin typeface="Calibri"/>
              </a:defRPr>
            </a:pPr>
            <a:r>
              <a:t>6. Streamlit documentation: https://docs.streamlit.io</a:t>
            </a:r>
          </a:p>
          <a:p>
            <a:pPr>
              <a:spcAft>
                <a:spcPts val="1000"/>
              </a:spcAft>
              <a:defRPr sz="1900" b="0">
                <a:solidFill>
                  <a:srgbClr val="233046"/>
                </a:solidFill>
                <a:latin typeface="Calibri"/>
              </a:defRPr>
            </a:pPr>
            <a:r>
              <a:t>7. Project corpus: public KCL/UCL policy PDFs and synthetic HR/IT policy TXT files.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lvl="0">
              <a:defRPr sz="3600" b="1">
                <a:solidFill>
                  <a:srgbClr val="192B48"/>
                </a:solidFill>
                <a:latin typeface="Calibri"/>
              </a:defRPr>
            </a:pPr>
            <a: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 lIns="73152" rIns="73152" tIns="36576" bIns="36576">
            <a:spAutoFit/>
          </a:bodyPr>
          <a:lstStyle/>
          <a:p>
            <a:pPr algn="r">
              <a:defRPr sz="1800">
                <a:solidFill>
                  <a:srgbClr val="374255"/>
                </a:solidFill>
                <a:latin typeface="Calibri"/>
              </a:defRPr>
            </a:pPr>
            <a:r>
              <a:t>Adaptive Enterprise Knowledge Assistant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